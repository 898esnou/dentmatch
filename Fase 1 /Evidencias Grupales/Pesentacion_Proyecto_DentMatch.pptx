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wZ0Elof/3hZUi/1FJi3ipDIHA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9bb121c0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f9bb121c0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9bb121c0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LIGHT">
  <p:cSld name="MASTER_LIGHT">
    <p:bg>
      <p:bgPr>
        <a:solidFill>
          <a:srgbClr val="F5FAF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27.png"/><Relationship Id="rId7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02B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0A89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tooth_white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703" y="921703"/>
            <a:ext cx="625450" cy="6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822960" y="2743233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PROPUESTA DE PROYECTO CAPSTONE  ·  INGENIERÍA INFORMÁTICA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40" y="3051755"/>
            <a:ext cx="10058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DentMatch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822960" y="5074920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Ockham: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Benjamín Canales   ·   Jorge Curiqueo   ·   Joaquín Rohland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21710" y="5635005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Docente: Felipe Antonio  Krauss Benavente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CONTEXTO Y RELEVANCIA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6858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Un problema real en la formación clínica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Los estudiantes de Odontología deben conseguir pacientes específicos para cumplir sus requisitos clínicos, mientras muchas personas no acceden a atención dental por su costo. Ambos problemas hoy se resuelven de forma manual, lenta y poco confiable.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2606040"/>
            <a:ext cx="3429000" cy="3017520"/>
          </a:xfrm>
          <a:prstGeom prst="roundRect">
            <a:avLst>
              <a:gd fmla="val 3636" name="adj"/>
            </a:avLst>
          </a:prstGeom>
          <a:solidFill>
            <a:srgbClr val="EAF4F3"/>
          </a:solidFill>
          <a:ln>
            <a:noFill/>
          </a:ln>
          <a:effectLst>
            <a:outerShdw blurRad="101600" rotWithShape="0" algn="bl" dir="5400000" dist="38100">
              <a:srgbClr val="1F3B3E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914400" y="28803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search_white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10" y="295717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914400" y="37033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Búsqueda ineficiente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14400" y="416052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Estudiantes publican en redes sociales y esperan respuestas sin garantía de que el procedimiento coincida.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389120" y="2606040"/>
            <a:ext cx="3429000" cy="3017520"/>
          </a:xfrm>
          <a:prstGeom prst="roundRect">
            <a:avLst>
              <a:gd fmla="val 3636" name="adj"/>
            </a:avLst>
          </a:prstGeom>
          <a:solidFill>
            <a:srgbClr val="EAF4F3"/>
          </a:solidFill>
          <a:ln>
            <a:noFill/>
          </a:ln>
          <a:effectLst>
            <a:outerShdw blurRad="101600" rotWithShape="0" algn="bl" dir="5400000" dist="38100">
              <a:srgbClr val="1F3B3E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663440" y="28803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warning_white.png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0250" y="295717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4663440" y="37033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Baja confiabilidad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63440" y="416052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Contactos que no se presentan, cancelan o no tienen intención real de atenderse.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138160" y="2606040"/>
            <a:ext cx="3429000" cy="3017520"/>
          </a:xfrm>
          <a:prstGeom prst="roundRect">
            <a:avLst>
              <a:gd fmla="val 3636" name="adj"/>
            </a:avLst>
          </a:prstGeom>
          <a:solidFill>
            <a:srgbClr val="EAF4F3"/>
          </a:solidFill>
          <a:ln>
            <a:noFill/>
          </a:ln>
          <a:effectLst>
            <a:outerShdw blurRad="101600" rotWithShape="0" algn="bl" dir="5400000" dist="38100">
              <a:srgbClr val="1F3B3E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412480" y="28803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map_white.png"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9290" y="295717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8412480" y="37033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Falta de acceso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412480" y="416052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Personas sin recursos no saben dónde encontrar atención dental de bajo costo.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080" y="6858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¿Qué es DentMatch?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75" y="1600200"/>
            <a:ext cx="51207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DentMatch es una p</a:t>
            </a:r>
            <a:r>
              <a:rPr b="0" i="0" lang="en-US" sz="14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lataforma web que conecta a estudiantes de Odontología que necesitan pacientes para procedimientos clínicos, con personas que buscan atención dental accesible. </a:t>
            </a:r>
            <a:r>
              <a:rPr lang="en-US" sz="145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Utiliza u</a:t>
            </a:r>
            <a:r>
              <a:rPr b="0" i="0" lang="en-US" sz="14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n motor de coincidencias apoyado en inteligencia artificial que </a:t>
            </a:r>
            <a:r>
              <a:rPr b="0" i="0" lang="en-US" sz="14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cruza procedimiento</a:t>
            </a:r>
            <a:r>
              <a:rPr b="0" i="0" lang="en-US" sz="14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, ubicación y disponibilidad de ambas partes.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17217" y="3950195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robot_white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1" y="4005059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1211578" y="3922763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Clasificación con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211578" y="4169651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Interpreta lenguaje cotidiano del paciente y lo asocia a un procedimiento.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17217" y="4626851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target_white.pn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1" y="4681715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211578" y="4599419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Matching automático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211578" y="4846307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Recomienda coincidencias según procedimiento, comuna y disponibilidad.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17217" y="5303507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usershield_white.png" id="69" name="Google Shape;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1" y="5358371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1211578" y="5276075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Perfiles verificados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211578" y="5522963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Universidad, año de carrera y certificado de alumno regular.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17217" y="5980163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omments_white.png" id="73" name="Google Shape;7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081" y="6035027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1211578" y="5952731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Chat con moderación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211578" y="6199619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Coordinación directa con alertas de contenido inapropiado.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172188" y="1600200"/>
            <a:ext cx="5349300" cy="4846200"/>
          </a:xfrm>
          <a:prstGeom prst="roundRect">
            <a:avLst>
              <a:gd fmla="val 2642" name="adj"/>
            </a:avLst>
          </a:prstGeom>
          <a:solidFill>
            <a:srgbClr val="05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537960" y="187452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FLUJO GENERAL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37960" y="2423160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grad_white.png" id="79" name="Google Shape;7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8435" y="2473635"/>
            <a:ext cx="319674" cy="3196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7132320" y="2404872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Est</a:t>
            </a:r>
            <a:r>
              <a:rPr b="0" i="0" lang="en-US" sz="115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udiante </a:t>
            </a:r>
            <a:r>
              <a:rPr b="0" i="0" lang="en-US" sz="115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crea perfil verificado con procedimientos y disponibilidad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6748272" y="2843784"/>
            <a:ext cx="0" cy="329184"/>
          </a:xfrm>
          <a:prstGeom prst="straightConnector1">
            <a:avLst/>
          </a:prstGeom>
          <a:noFill/>
          <a:ln cap="flat" cmpd="sng" w="15875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537960" y="317296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omments_white.png" id="83" name="Google Shape;8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8435" y="3223443"/>
            <a:ext cx="319674" cy="31967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7132320" y="3154680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El paciente verificado</a:t>
            </a:r>
            <a:r>
              <a:rPr b="0" i="0" lang="en-US" sz="115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 describe su necesidad en lenguaje cotidiano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6748272" y="3593592"/>
            <a:ext cx="0" cy="329184"/>
          </a:xfrm>
          <a:prstGeom prst="straightConnector1">
            <a:avLst/>
          </a:prstGeom>
          <a:noFill/>
          <a:ln cap="flat" cmpd="sng" w="15875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537960" y="392277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robot_white.png"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435" y="3973251"/>
            <a:ext cx="319674" cy="3196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7132320" y="3904488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La IA clasifica automáticamente la solicitud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6748272" y="4343400"/>
            <a:ext cx="0" cy="329184"/>
          </a:xfrm>
          <a:prstGeom prst="straightConnector1">
            <a:avLst/>
          </a:prstGeom>
          <a:noFill/>
          <a:ln cap="flat" cmpd="sng" w="15875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537960" y="467258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target_white.png" id="91" name="Google Shape;9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8435" y="4723059"/>
            <a:ext cx="319674" cy="3196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7132320" y="4654296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El sistema genera coincidencias relevantes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6748272" y="5093208"/>
            <a:ext cx="0" cy="329184"/>
          </a:xfrm>
          <a:prstGeom prst="straightConnector1">
            <a:avLst/>
          </a:prstGeom>
          <a:noFill/>
          <a:ln cap="flat" cmpd="sng" w="15875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537960" y="5422392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handshake_white.png" id="95" name="Google Shape;9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8435" y="5472867"/>
            <a:ext cx="319674" cy="3196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7132320" y="5404104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Ambos coordinan la atención por chat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bb121c03_1_0"/>
          <p:cNvSpPr/>
          <p:nvPr/>
        </p:nvSpPr>
        <p:spPr>
          <a:xfrm>
            <a:off x="640080" y="384048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PERFIL DE EGRESO Y COMPETENCIAS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9bb121c03_1_0"/>
          <p:cNvSpPr/>
          <p:nvPr/>
        </p:nvSpPr>
        <p:spPr>
          <a:xfrm>
            <a:off x="640155" y="525100"/>
            <a:ext cx="8686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Perfil</a:t>
            </a:r>
            <a:r>
              <a:rPr b="1" lang="en-US" sz="3200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 de egreso y aspiraciones personales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9bb121c03_1_0"/>
          <p:cNvSpPr/>
          <p:nvPr/>
        </p:nvSpPr>
        <p:spPr>
          <a:xfrm>
            <a:off x="655350" y="1266200"/>
            <a:ext cx="10881300" cy="1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El proyecto consolida las competencias de la carrera de Ingeniería en Informática al abordar el desarrollo de una solución tecnológica. </a:t>
            </a:r>
            <a:endParaRPr sz="1450">
              <a:solidFill>
                <a:srgbClr val="1F3B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 A nivel técnico, exige la construcción de una plataforma web, abarcando la arquitectura de software y la integración de inteligencia artificial. A nivel de gestión, el proyecto aplica estándares de la industria (IEEE 830) para la especificación de requisitos y planificación.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f9bb121c03_1_0"/>
          <p:cNvSpPr/>
          <p:nvPr/>
        </p:nvSpPr>
        <p:spPr>
          <a:xfrm>
            <a:off x="640100" y="2606052"/>
            <a:ext cx="3429000" cy="3636600"/>
          </a:xfrm>
          <a:prstGeom prst="roundRect">
            <a:avLst>
              <a:gd fmla="val 3636" name="adj"/>
            </a:avLst>
          </a:prstGeom>
          <a:solidFill>
            <a:srgbClr val="EAF4F3"/>
          </a:solidFill>
          <a:ln>
            <a:noFill/>
          </a:ln>
          <a:effectLst>
            <a:outerShdw blurRad="101600" rotWithShape="0" algn="bl" dir="5400000" dist="38100">
              <a:srgbClr val="1F3B3E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9bb121c03_1_0"/>
          <p:cNvSpPr/>
          <p:nvPr/>
        </p:nvSpPr>
        <p:spPr>
          <a:xfrm>
            <a:off x="914400" y="2880360"/>
            <a:ext cx="640200" cy="640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9bb121c03_1_0"/>
          <p:cNvSpPr/>
          <p:nvPr/>
        </p:nvSpPr>
        <p:spPr>
          <a:xfrm>
            <a:off x="1728150" y="2971800"/>
            <a:ext cx="200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Benjamín Canales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9bb121c03_1_0"/>
          <p:cNvSpPr/>
          <p:nvPr/>
        </p:nvSpPr>
        <p:spPr>
          <a:xfrm>
            <a:off x="964025" y="3784300"/>
            <a:ext cx="28803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Este proyecto me permite desarrollar competencias en </a:t>
            </a:r>
            <a:r>
              <a:rPr lang="en-US" sz="13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n-US" sz="13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 de datos y desarrollo de software, áreas en las que deseo especializarme profesionalmente, aplicándolas a un problema con impacto social concreto.</a:t>
            </a:r>
            <a:endParaRPr b="0" i="0" sz="1450" u="none" cap="none" strike="noStrike">
              <a:solidFill>
                <a:srgbClr val="5B7A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9bb121c03_1_0"/>
          <p:cNvSpPr/>
          <p:nvPr/>
        </p:nvSpPr>
        <p:spPr>
          <a:xfrm>
            <a:off x="4389125" y="2606052"/>
            <a:ext cx="3429000" cy="3636600"/>
          </a:xfrm>
          <a:prstGeom prst="roundRect">
            <a:avLst>
              <a:gd fmla="val 3636" name="adj"/>
            </a:avLst>
          </a:prstGeom>
          <a:solidFill>
            <a:srgbClr val="EAF4F3"/>
          </a:solidFill>
          <a:ln>
            <a:noFill/>
          </a:ln>
          <a:effectLst>
            <a:outerShdw blurRad="101600" rotWithShape="0" algn="bl" dir="5400000" dist="38100">
              <a:srgbClr val="1F3B3E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9bb121c03_1_0"/>
          <p:cNvSpPr/>
          <p:nvPr/>
        </p:nvSpPr>
        <p:spPr>
          <a:xfrm>
            <a:off x="4663440" y="2880360"/>
            <a:ext cx="640200" cy="640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9bb121c03_1_0"/>
          <p:cNvSpPr/>
          <p:nvPr/>
        </p:nvSpPr>
        <p:spPr>
          <a:xfrm>
            <a:off x="5438651" y="2971800"/>
            <a:ext cx="200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Jorge Curiqueo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9bb121c03_1_0"/>
          <p:cNvSpPr/>
          <p:nvPr/>
        </p:nvSpPr>
        <p:spPr>
          <a:xfrm>
            <a:off x="4663475" y="3615250"/>
            <a:ext cx="2880300" cy="23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Me interesó el proyecto por su aporte social y estudiantil. Es una oportunidad para desarrollar un proyecto estructurado desde cero, integrando IA y bases de datos, áreas de principal interés para mi futuro profesional .</a:t>
            </a:r>
            <a:endParaRPr b="0" i="0" sz="1200" u="none" cap="none" strike="noStrike">
              <a:solidFill>
                <a:srgbClr val="5B7A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9bb121c03_1_0"/>
          <p:cNvSpPr/>
          <p:nvPr/>
        </p:nvSpPr>
        <p:spPr>
          <a:xfrm>
            <a:off x="8138150" y="2606052"/>
            <a:ext cx="3429000" cy="3636600"/>
          </a:xfrm>
          <a:prstGeom prst="roundRect">
            <a:avLst>
              <a:gd fmla="val 3636" name="adj"/>
            </a:avLst>
          </a:prstGeom>
          <a:solidFill>
            <a:srgbClr val="EAF4F3"/>
          </a:solidFill>
          <a:ln>
            <a:noFill/>
          </a:ln>
          <a:effectLst>
            <a:outerShdw blurRad="101600" rotWithShape="0" algn="bl" dir="5400000" dist="38100">
              <a:srgbClr val="1F3B3E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9bb121c03_1_0"/>
          <p:cNvSpPr/>
          <p:nvPr/>
        </p:nvSpPr>
        <p:spPr>
          <a:xfrm>
            <a:off x="8412480" y="2880360"/>
            <a:ext cx="640200" cy="640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9bb121c03_1_0"/>
          <p:cNvSpPr/>
          <p:nvPr/>
        </p:nvSpPr>
        <p:spPr>
          <a:xfrm>
            <a:off x="9200475" y="2971850"/>
            <a:ext cx="200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Joaquín Rohland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9bb121c03_1_0"/>
          <p:cNvSpPr/>
          <p:nvPr/>
        </p:nvSpPr>
        <p:spPr>
          <a:xfrm>
            <a:off x="8321475" y="3667275"/>
            <a:ext cx="2880300" cy="23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Este proyecto me motiva porque resuelve una problemática real que afecta a muchos estudiantes. Mi interés personal está en el desarrollo web y la integración de inteligencia artificial, y DentMatch me permite trabajar en ambas áreas de manera aplicada.</a:t>
            </a:r>
            <a:endParaRPr b="0" i="0" sz="1300" u="none" cap="none" strike="noStrike">
              <a:solidFill>
                <a:srgbClr val="5B7A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9bb121c03_1_0"/>
          <p:cNvSpPr/>
          <p:nvPr/>
        </p:nvSpPr>
        <p:spPr>
          <a:xfrm>
            <a:off x="11365992" y="64008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users_white.png" id="120" name="Google Shape;120;g3f9bb121c0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960" y="2998865"/>
            <a:ext cx="403068" cy="403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dentmatch_ppt/icons/users_white.png" id="121" name="Google Shape;121;g3f9bb121c0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1997" y="2998865"/>
            <a:ext cx="403068" cy="403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dentmatch_ppt/icons/users_white.png" id="122" name="Google Shape;122;g3f9bb121c0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1072" y="2998865"/>
            <a:ext cx="403068" cy="40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f9bb121c03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644180" y="201048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0080" y="512000"/>
            <a:ext cx="8686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¿Por qué es realizable en un semestre?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03730" y="1334890"/>
            <a:ext cx="530400" cy="530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heck_white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372" y="1398532"/>
            <a:ext cx="403068" cy="403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1293762" y="1367027"/>
            <a:ext cx="532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Alcance acotado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390112" y="1691660"/>
            <a:ext cx="532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MVP de 5 épicas priorizadas, </a:t>
            </a: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con enfoque principal en la búsqueda y matching de interesados en dar tratamientos y recibirlos.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03730" y="2461798"/>
            <a:ext cx="530400" cy="530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users_white.png"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372" y="2525440"/>
            <a:ext cx="403068" cy="403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1294062" y="2514460"/>
            <a:ext cx="532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Equipo</a:t>
            </a:r>
            <a:r>
              <a:rPr b="1" lang="en-US" sz="1450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 con fundamentos</a:t>
            </a:r>
            <a:endParaRPr b="1" sz="1450">
              <a:solidFill>
                <a:srgbClr val="05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416962" y="2736117"/>
            <a:ext cx="532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3 integrantes con conocimientos previos en desarrollo, datos e IA, y responsabilidades definidas.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03705" y="3465555"/>
            <a:ext cx="530400" cy="530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bulb_white.png"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7372" y="3564860"/>
            <a:ext cx="403068" cy="403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1293762" y="3494055"/>
            <a:ext cx="532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Problema validado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294062" y="3780588"/>
            <a:ext cx="532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Caso real dentro del propio equipo: estudiante de Odontología que vivió la dificultad de conseguir pacientes.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03705" y="4651950"/>
            <a:ext cx="530400" cy="530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ogs_white.png" id="144" name="Google Shape;14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322" y="4715617"/>
            <a:ext cx="403068" cy="403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1293762" y="4559237"/>
            <a:ext cx="532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Tecnología accesible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334250" y="4944550"/>
            <a:ext cx="5241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Stack Propuesto: </a:t>
            </a:r>
            <a:b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Backend: </a:t>
            </a: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FastAPI (Python).</a:t>
            </a:r>
            <a:endParaRPr sz="1150">
              <a:solidFill>
                <a:srgbClr val="5B7A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Frontend: </a:t>
            </a: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HTML, CSS, JS con Bootstrap.</a:t>
            </a:r>
            <a:endParaRPr sz="1150">
              <a:solidFill>
                <a:srgbClr val="5B7A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Base de datos relacional: </a:t>
            </a: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Gemini API: Para clasificación de solicitudes, moderación de contenido y el matching. Pruebas: jmeter y postman.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995100" y="1965950"/>
            <a:ext cx="4526400" cy="3704700"/>
          </a:xfrm>
          <a:prstGeom prst="roundRect">
            <a:avLst>
              <a:gd fmla="val 2828" name="adj"/>
            </a:avLst>
          </a:prstGeom>
          <a:solidFill>
            <a:srgbClr val="05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315150" y="2240260"/>
            <a:ext cx="388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ALCANCE DEL MVP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149" name="Google Shape;1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27157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7635302" y="2715754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Registro y verificación de estudiantes.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151" name="Google Shape;15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3172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7635302" y="3090691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Publicación de solicitudes.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153" name="Google Shape;1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36301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7635302" y="3547891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Clasificación automática con 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155" name="Google Shape;15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40873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7616902" y="4005091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Matching por procedimiento/ubicación/disponibilidad.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157" name="Google Shape;15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4544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7616902" y="4462291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Chat de coordinación con moderación.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7315150" y="5212075"/>
            <a:ext cx="3886200" cy="0"/>
          </a:xfrm>
          <a:prstGeom prst="straightConnector1">
            <a:avLst/>
          </a:prstGeom>
          <a:noFill/>
          <a:ln cap="flat" cmpd="sng" w="12700">
            <a:solidFill>
              <a:srgbClr val="3A5C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5"/>
          <p:cNvSpPr/>
          <p:nvPr/>
        </p:nvSpPr>
        <p:spPr>
          <a:xfrm>
            <a:off x="7315150" y="5001780"/>
            <a:ext cx="388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1365992" y="64008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0080" y="6858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Objetivo general y objetivos específicos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0080" y="1645920"/>
            <a:ext cx="10881360" cy="1051560"/>
          </a:xfrm>
          <a:prstGeom prst="roundRect">
            <a:avLst>
              <a:gd fmla="val 1043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868680" y="1856232"/>
            <a:ext cx="621792" cy="621792"/>
          </a:xfrm>
          <a:prstGeom prst="ellipse">
            <a:avLst/>
          </a:prstGeom>
          <a:solidFill>
            <a:srgbClr val="05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target_white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295" y="1930847"/>
            <a:ext cx="472562" cy="4725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1691640" y="176479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691640" y="2029968"/>
            <a:ext cx="9509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funcional que conecte a estudiantes de Odontología con pacientes, utilizando inteligencia artificial para clasificar solicitudes, generar coincidencias relevantes, con un chat para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coordinarse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apoyar la moderación de contenido.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40080" y="3063240"/>
            <a:ext cx="2029968" cy="3063240"/>
          </a:xfrm>
          <a:prstGeom prst="roundRect">
            <a:avLst>
              <a:gd fmla="val 4505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804672" y="32278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04672" y="368503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usershield_white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022" y="3745382"/>
            <a:ext cx="382219" cy="38221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804672" y="4297680"/>
            <a:ext cx="1700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Autenticación y perfiles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04672" y="4846320"/>
            <a:ext cx="17007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Registro verificado de estudiantes y pacientes.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816352" y="3063240"/>
            <a:ext cx="2029968" cy="3063240"/>
          </a:xfrm>
          <a:prstGeom prst="roundRect">
            <a:avLst>
              <a:gd fmla="val 4505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2980944" y="32278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980944" y="368503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search_white.png" id="184" name="Google Shape;1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1294" y="3745382"/>
            <a:ext cx="382219" cy="38221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2980944" y="4297680"/>
            <a:ext cx="1700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Búsqueda y clasificación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980944" y="4846320"/>
            <a:ext cx="17007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Publicación de solicitudes con clasificación por IA.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992624" y="3063240"/>
            <a:ext cx="2029968" cy="3063240"/>
          </a:xfrm>
          <a:prstGeom prst="roundRect">
            <a:avLst>
              <a:gd fmla="val 4505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157216" y="32278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157216" y="368503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target_white.png" id="190" name="Google Shape;1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7566" y="3745382"/>
            <a:ext cx="382219" cy="3822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/>
          <p:nvPr/>
        </p:nvSpPr>
        <p:spPr>
          <a:xfrm>
            <a:off x="5157216" y="4297680"/>
            <a:ext cx="1700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Matching automático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157216" y="4846320"/>
            <a:ext cx="17007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Motor de coincidencias por procedimiento, comuna y fecha.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345171" y="3063240"/>
            <a:ext cx="2030100" cy="3063300"/>
          </a:xfrm>
          <a:prstGeom prst="roundRect">
            <a:avLst>
              <a:gd fmla="val 4505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9509763" y="3227832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1" lang="en-US" sz="2000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509763" y="3685032"/>
            <a:ext cx="502800" cy="502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shield_white.png" id="196" name="Google Shape;19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0113" y="3745382"/>
            <a:ext cx="382219" cy="38221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/>
          <p:nvPr/>
        </p:nvSpPr>
        <p:spPr>
          <a:xfrm>
            <a:off x="9509763" y="4297680"/>
            <a:ext cx="170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Moderación asistida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9509763" y="4846320"/>
            <a:ext cx="170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Detección de spam o contenido inapropiado en conversaciones.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168830" y="3099790"/>
            <a:ext cx="2030100" cy="3063300"/>
          </a:xfrm>
          <a:prstGeom prst="roundRect">
            <a:avLst>
              <a:gd fmla="val 4505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7333423" y="3264382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1" lang="en-US" sz="2000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333423" y="3721582"/>
            <a:ext cx="502800" cy="502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omments_white.png" id="202" name="Google Shape;20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93773" y="3781932"/>
            <a:ext cx="382219" cy="38221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7333423" y="4334230"/>
            <a:ext cx="170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Coordinación por chat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333423" y="4882870"/>
            <a:ext cx="170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Canal directo para acordar fecha, hora y lugar de atención.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40080" y="6858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Metodología de trabajo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40075" y="1600200"/>
            <a:ext cx="111180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Desarrollo iterativo adaptado al calendario académico, organizado en épicas dimensionadas con Puntos de Función y estimadas en equipo mediante Poker Planning. La documentación de requisitos sigue el estándar IEEE 830.</a:t>
            </a:r>
            <a:r>
              <a:rPr lang="en-US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 Se aplica un enfoque ágil, basado en Scrum, ajustado a nuestro equipo de tres integrantes.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40080" y="2514600"/>
            <a:ext cx="2514600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8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22960" y="2715768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lipboard_white.png"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7" y="2781605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/>
          <p:nvPr/>
        </p:nvSpPr>
        <p:spPr>
          <a:xfrm>
            <a:off x="822960" y="341071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Especificación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22960" y="3776472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Definición de épicas y criterios </a:t>
            </a:r>
            <a:r>
              <a:rPr lang="en-US" sz="10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según el estándar ERS IEEE 830.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7"/>
          <p:cNvCxnSpPr/>
          <p:nvPr/>
        </p:nvCxnSpPr>
        <p:spPr>
          <a:xfrm>
            <a:off x="3209544" y="36576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7"/>
          <p:cNvSpPr/>
          <p:nvPr/>
        </p:nvSpPr>
        <p:spPr>
          <a:xfrm>
            <a:off x="3474720" y="2514600"/>
            <a:ext cx="2514600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8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3657600" y="2715768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ogs_white.png" id="223" name="Google Shape;2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3437" y="2781605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3657600" y="341071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Desarrollo iterativo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657600" y="3776472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Construcción por épica, priorizando valor y dependencias técnicas. </a:t>
            </a:r>
            <a:r>
              <a:rPr lang="en-US" sz="10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ada </a:t>
            </a:r>
            <a:r>
              <a:rPr lang="en-US" sz="10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épica siendo desarrollada de 1 a 3 semanas según su complejidad.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7"/>
          <p:cNvCxnSpPr/>
          <p:nvPr/>
        </p:nvCxnSpPr>
        <p:spPr>
          <a:xfrm>
            <a:off x="6044184" y="36576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" name="Google Shape;227;p7"/>
          <p:cNvSpPr/>
          <p:nvPr/>
        </p:nvSpPr>
        <p:spPr>
          <a:xfrm>
            <a:off x="6309360" y="2514600"/>
            <a:ext cx="2514600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8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6492240" y="2715768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search_white.png" id="229" name="Google Shape;2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8077" y="2781605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/>
          <p:nvPr/>
        </p:nvSpPr>
        <p:spPr>
          <a:xfrm>
            <a:off x="6492240" y="341071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Verificación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492240" y="3776472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Pruebas unitarias y integración ejecutadas al cierre de cada épica, más validación con usuarios reales antes de la entrega final.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7"/>
          <p:cNvCxnSpPr/>
          <p:nvPr/>
        </p:nvCxnSpPr>
        <p:spPr>
          <a:xfrm>
            <a:off x="8878824" y="36576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p7"/>
          <p:cNvSpPr/>
          <p:nvPr/>
        </p:nvSpPr>
        <p:spPr>
          <a:xfrm>
            <a:off x="9144000" y="2514600"/>
            <a:ext cx="2514600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8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9326880" y="2715768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file_white.png" id="235" name="Google Shape;2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2717" y="2781605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9326880" y="341071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Documentación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9326880" y="3776472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Registro de arquitectura, base de datos y manual de uso.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ROLES DEL 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40080" y="5394960"/>
            <a:ext cx="3520440" cy="868680"/>
          </a:xfrm>
          <a:prstGeom prst="roundRect">
            <a:avLst>
              <a:gd fmla="val 10526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868680" y="548640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Benjamín Canales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68680" y="5779008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Líder de Proyecto + Backend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480560" y="5394960"/>
            <a:ext cx="3520440" cy="868680"/>
          </a:xfrm>
          <a:prstGeom prst="roundRect">
            <a:avLst>
              <a:gd fmla="val 10526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4709160" y="548640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Jorge Curiqueo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709160" y="5779008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Desarrollo </a:t>
            </a:r>
            <a:r>
              <a:rPr b="0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IA y 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321040" y="5394960"/>
            <a:ext cx="3520440" cy="868680"/>
          </a:xfrm>
          <a:prstGeom prst="roundRect">
            <a:avLst>
              <a:gd fmla="val 10526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8549640" y="548640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Joaquín Rohland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549640" y="5779008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Frontend + </a:t>
            </a:r>
            <a:r>
              <a:rPr lang="en-US" sz="10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r>
              <a:rPr b="0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 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11365992" y="64008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40080" y="6858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Poker Planning</a:t>
            </a:r>
            <a:r>
              <a:rPr b="1" i="0" lang="en-US" sz="32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 — semanas 5 a 14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40080" y="1737360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ÉPICA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931922" y="1737350"/>
            <a:ext cx="6930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SEMANA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931920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690872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449824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208776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967728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7726680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485632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9244584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0003536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0762488" y="2029968"/>
            <a:ext cx="758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40080" y="238658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001 · Autenticación y perfiles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40055" y="2679242"/>
            <a:ext cx="306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5 PF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931920" y="2331720"/>
            <a:ext cx="7589400" cy="594300"/>
          </a:xfrm>
          <a:prstGeom prst="roundRect">
            <a:avLst>
              <a:gd fmla="val 923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3959350" y="2404875"/>
            <a:ext cx="1400100" cy="447900"/>
          </a:xfrm>
          <a:prstGeom prst="roundRect">
            <a:avLst>
              <a:gd fmla="val 1224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640080" y="31089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002 · Búsqueda y publicación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40080" y="338328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3 PF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931920" y="3054096"/>
            <a:ext cx="7589520" cy="594360"/>
          </a:xfrm>
          <a:prstGeom prst="roundRect">
            <a:avLst>
              <a:gd fmla="val 923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5422402" y="3127325"/>
            <a:ext cx="1043400" cy="447900"/>
          </a:xfrm>
          <a:prstGeom prst="roundRect">
            <a:avLst>
              <a:gd fmla="val 1224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640080" y="3831336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003 · Matching con 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40080" y="410565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8 PF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931920" y="3776472"/>
            <a:ext cx="7589520" cy="594360"/>
          </a:xfrm>
          <a:prstGeom prst="roundRect">
            <a:avLst>
              <a:gd fmla="val 923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6465810" y="3849624"/>
            <a:ext cx="2222100" cy="448200"/>
          </a:xfrm>
          <a:prstGeom prst="roundRect">
            <a:avLst>
              <a:gd fmla="val 12245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40080" y="455371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004 · </a:t>
            </a:r>
            <a:r>
              <a:rPr b="1" lang="en-US" sz="1150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Coordinación de hora por chat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40080" y="4828032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5 PF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931920" y="4498848"/>
            <a:ext cx="7589400" cy="594300"/>
          </a:xfrm>
          <a:prstGeom prst="roundRect">
            <a:avLst>
              <a:gd fmla="val 923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7A7D"/>
                </a:solidFill>
              </a:rPr>
              <a:t>                       </a:t>
            </a:r>
            <a:r>
              <a:rPr lang="en-US" sz="1100">
                <a:solidFill>
                  <a:srgbClr val="5B7A7D"/>
                </a:solidFill>
              </a:rPr>
              <a:t>Fin épica 004. Chat entre estudiante y paciente funcional </a:t>
            </a:r>
            <a:endParaRPr sz="1100">
              <a:solidFill>
                <a:srgbClr val="5B7A7D"/>
              </a:solidFill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687899" y="4572000"/>
            <a:ext cx="1343100" cy="448200"/>
          </a:xfrm>
          <a:prstGeom prst="roundRect">
            <a:avLst>
              <a:gd fmla="val 12245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40080" y="527608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005 · </a:t>
            </a:r>
            <a:r>
              <a:rPr b="1" lang="en-US" sz="1150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Moderación asistida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40080" y="555040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 PF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931920" y="5221224"/>
            <a:ext cx="7589520" cy="594360"/>
          </a:xfrm>
          <a:prstGeom prst="roundRect">
            <a:avLst>
              <a:gd fmla="val 9231" name="adj"/>
            </a:avLst>
          </a:prstGeom>
          <a:solidFill>
            <a:srgbClr val="EE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7A7D"/>
                </a:solidFill>
              </a:rPr>
              <a:t>                                   </a:t>
            </a:r>
            <a:r>
              <a:rPr lang="en-US" sz="1100">
                <a:solidFill>
                  <a:srgbClr val="5B7A7D"/>
                </a:solidFill>
              </a:rPr>
              <a:t>Fin épica 005. Moderación de spam y contenido inapropiado en el chat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10030968" y="5294376"/>
            <a:ext cx="1463040" cy="448056"/>
          </a:xfrm>
          <a:prstGeom prst="roundRect">
            <a:avLst>
              <a:gd fmla="val 12245" name="adj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8"/>
          <p:cNvCxnSpPr>
            <a:stCxn id="291" idx="1"/>
            <a:endCxn id="272" idx="3"/>
          </p:cNvCxnSpPr>
          <p:nvPr/>
        </p:nvCxnSpPr>
        <p:spPr>
          <a:xfrm flipH="1">
            <a:off x="5359450" y="2627625"/>
            <a:ext cx="193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8"/>
          <p:cNvCxnSpPr/>
          <p:nvPr/>
        </p:nvCxnSpPr>
        <p:spPr>
          <a:xfrm flipH="1">
            <a:off x="6465800" y="3350650"/>
            <a:ext cx="193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8"/>
          <p:cNvSpPr txBox="1"/>
          <p:nvPr/>
        </p:nvSpPr>
        <p:spPr>
          <a:xfrm>
            <a:off x="5449825" y="2441425"/>
            <a:ext cx="44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B7A7D"/>
                </a:solidFill>
              </a:rPr>
              <a:t> </a:t>
            </a:r>
            <a:r>
              <a:rPr lang="en-US" sz="1100">
                <a:solidFill>
                  <a:srgbClr val="5B7A7D"/>
                </a:solidFill>
              </a:rPr>
              <a:t>Fin épica 001. Creación y autenticación de perfiles funcional</a:t>
            </a:r>
            <a:endParaRPr sz="1100">
              <a:solidFill>
                <a:srgbClr val="5B7A7D"/>
              </a:solidFill>
            </a:endParaRPr>
          </a:p>
        </p:txBody>
      </p:sp>
      <p:cxnSp>
        <p:nvCxnSpPr>
          <p:cNvPr id="294" name="Google Shape;294;p8"/>
          <p:cNvCxnSpPr/>
          <p:nvPr/>
        </p:nvCxnSpPr>
        <p:spPr>
          <a:xfrm flipH="1">
            <a:off x="8687900" y="4073050"/>
            <a:ext cx="193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8"/>
          <p:cNvSpPr txBox="1"/>
          <p:nvPr/>
        </p:nvSpPr>
        <p:spPr>
          <a:xfrm>
            <a:off x="8790250" y="3896650"/>
            <a:ext cx="3339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B7A7D"/>
                </a:solidFill>
              </a:rPr>
              <a:t>Fin épica 003. Matching con IA integrado</a:t>
            </a:r>
            <a:endParaRPr sz="1100">
              <a:solidFill>
                <a:srgbClr val="5B7A7D"/>
              </a:solidFill>
            </a:endParaRPr>
          </a:p>
        </p:txBody>
      </p:sp>
      <p:cxnSp>
        <p:nvCxnSpPr>
          <p:cNvPr id="296" name="Google Shape;296;p8"/>
          <p:cNvCxnSpPr/>
          <p:nvPr/>
        </p:nvCxnSpPr>
        <p:spPr>
          <a:xfrm flipH="1">
            <a:off x="8485625" y="4795425"/>
            <a:ext cx="193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8"/>
          <p:cNvCxnSpPr/>
          <p:nvPr/>
        </p:nvCxnSpPr>
        <p:spPr>
          <a:xfrm flipH="1">
            <a:off x="9837800" y="5549875"/>
            <a:ext cx="193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8"/>
          <p:cNvSpPr txBox="1"/>
          <p:nvPr/>
        </p:nvSpPr>
        <p:spPr>
          <a:xfrm>
            <a:off x="6552350" y="3191200"/>
            <a:ext cx="44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B7A7D"/>
                </a:solidFill>
              </a:rPr>
              <a:t> Fin épica 002. </a:t>
            </a:r>
            <a:r>
              <a:rPr lang="en-US" sz="1100">
                <a:solidFill>
                  <a:srgbClr val="5B7A7D"/>
                </a:solidFill>
              </a:rPr>
              <a:t>Búsqueda</a:t>
            </a:r>
            <a:r>
              <a:rPr lang="en-US" sz="1100">
                <a:solidFill>
                  <a:srgbClr val="5B7A7D"/>
                </a:solidFill>
              </a:rPr>
              <a:t> y publicación de ofertas funcional.</a:t>
            </a:r>
            <a:endParaRPr sz="1100">
              <a:solidFill>
                <a:srgbClr val="5B7A7D"/>
              </a:solidFill>
            </a:endParaRPr>
          </a:p>
        </p:txBody>
      </p:sp>
      <p:pic>
        <p:nvPicPr>
          <p:cNvPr id="299" name="Google Shape;29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40080" y="6858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Facilitadores y obstaculizadores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40080" y="1700760"/>
            <a:ext cx="5212200" cy="4480500"/>
          </a:xfrm>
          <a:prstGeom prst="roundRect">
            <a:avLst>
              <a:gd fmla="val 2857" name="adj"/>
            </a:avLst>
          </a:prstGeom>
          <a:solidFill>
            <a:srgbClr val="EA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heck_white.png" id="309" name="Google Shape;3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237" y="207751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/>
          <p:nvPr/>
        </p:nvSpPr>
        <p:spPr>
          <a:xfrm>
            <a:off x="1600200" y="21214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Facilitadores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932688" y="2843784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1188720" y="2633406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Problema validado con un caso real dentro del propio equipo.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932700" y="3497557"/>
            <a:ext cx="91500" cy="915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1188720" y="3396891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Equipo motivado con conocimientos previos en desarrollo, IA y datos.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932688" y="4270243"/>
            <a:ext cx="91500" cy="915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1188720" y="4010664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Tecnologías accesibles, gratuitas y ampliamente documentadas.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932650" y="4794116"/>
            <a:ext cx="91500" cy="915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1188720" y="4519787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Roles y responsabilidades definidos desde el inicio del proyecto.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309360" y="1737360"/>
            <a:ext cx="5212200" cy="4480500"/>
          </a:xfrm>
          <a:prstGeom prst="roundRect">
            <a:avLst>
              <a:gd fmla="val 2857" name="adj"/>
            </a:avLst>
          </a:prstGeom>
          <a:solidFill>
            <a:srgbClr val="FBF1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warning_white.png" id="321" name="Google Shape;32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9517" y="207751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/>
          <p:nvPr/>
        </p:nvSpPr>
        <p:spPr>
          <a:xfrm>
            <a:off x="7269480" y="21214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Obstaculizadores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629400" y="27889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Integración de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6629400" y="308152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Mitigado con APIs y clasificadores pre-entrenados </a:t>
            </a: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con costo accesible y datasets orientados a lo requerido.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629400" y="37947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Privacidad y datos sensibles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629400" y="4087368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Se envía a la API externa solo el texto necesario para la clasificación, sin datos de identificación del paciente.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629400" y="48006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202B"/>
                </a:solidFill>
                <a:latin typeface="Calibri"/>
                <a:ea typeface="Calibri"/>
                <a:cs typeface="Calibri"/>
                <a:sym typeface="Calibri"/>
              </a:rPr>
              <a:t>Adopción de usuarios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629400" y="5093208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Validación temprana con estudiantes y pacientes reales.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932650" y="5265803"/>
            <a:ext cx="91500" cy="915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 txBox="1"/>
          <p:nvPr/>
        </p:nvSpPr>
        <p:spPr>
          <a:xfrm>
            <a:off x="1188725" y="5159975"/>
            <a:ext cx="4389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MVP definido con 5 épicas priorizadas, lo que reduce el riesgo de no completar el desarrollo dentro del plazo de 14 semanas.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40080" y="6858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Evidencias del logro de cada actividad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40080" y="1737360"/>
            <a:ext cx="3520440" cy="448056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D8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896112" y="1993392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cogs_white.png" id="342" name="Google Shape;3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143" y="2061423"/>
            <a:ext cx="430865" cy="43086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"/>
          <p:cNvSpPr/>
          <p:nvPr/>
        </p:nvSpPr>
        <p:spPr>
          <a:xfrm>
            <a:off x="896112" y="265176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Evidencia técnica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44" name="Google Shape;3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112" y="3831343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0"/>
          <p:cNvSpPr/>
          <p:nvPr/>
        </p:nvSpPr>
        <p:spPr>
          <a:xfrm>
            <a:off x="1078994" y="3680491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Repositorio Git con historial de commits por épica.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46" name="Google Shape;34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112" y="4434841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"/>
          <p:cNvSpPr/>
          <p:nvPr/>
        </p:nvSpPr>
        <p:spPr>
          <a:xfrm>
            <a:off x="1079007" y="4298814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Pruebas unitarias e integración documentadas.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48" name="Google Shape;34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112" y="5038339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/>
          <p:nvPr/>
        </p:nvSpPr>
        <p:spPr>
          <a:xfrm>
            <a:off x="1078994" y="4917162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API documentada (especificación de endpoints).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416552" y="1737360"/>
            <a:ext cx="3520440" cy="448056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D8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4672584" y="1993392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users_white.png" id="352" name="Google Shape;35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0615" y="2061423"/>
            <a:ext cx="430865" cy="43086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/>
          <p:nvPr/>
        </p:nvSpPr>
        <p:spPr>
          <a:xfrm>
            <a:off x="4672584" y="265176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Evidencia funcional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54" name="Google Shape;35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584" y="3831343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0"/>
          <p:cNvSpPr/>
          <p:nvPr/>
        </p:nvSpPr>
        <p:spPr>
          <a:xfrm>
            <a:off x="4892054" y="3680491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Demostración del MVP con casos de uso reales.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56" name="Google Shape;3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584" y="4434841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0"/>
          <p:cNvSpPr/>
          <p:nvPr/>
        </p:nvSpPr>
        <p:spPr>
          <a:xfrm>
            <a:off x="4892054" y="4301689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Sesiones de prueba con estudiantes y pacientes.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58" name="Google Shape;3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584" y="50200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/>
          <p:nvPr/>
        </p:nvSpPr>
        <p:spPr>
          <a:xfrm>
            <a:off x="4892054" y="4782337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Registro de retroalimentación aplicada.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8193024" y="1737360"/>
            <a:ext cx="3520440" cy="448056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D8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8449056" y="1993392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file_white.png" id="362" name="Google Shape;36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17087" y="2061423"/>
            <a:ext cx="430865" cy="43086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0"/>
          <p:cNvSpPr/>
          <p:nvPr/>
        </p:nvSpPr>
        <p:spPr>
          <a:xfrm>
            <a:off x="8449056" y="265176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0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5202B"/>
                </a:solidFill>
                <a:latin typeface="Cambria"/>
                <a:ea typeface="Cambria"/>
                <a:cs typeface="Cambria"/>
                <a:sym typeface="Cambria"/>
              </a:rPr>
              <a:t>Evidencia documental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64" name="Google Shape;3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9056" y="3831343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0"/>
          <p:cNvSpPr/>
          <p:nvPr/>
        </p:nvSpPr>
        <p:spPr>
          <a:xfrm>
            <a:off x="8631913" y="3602729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Documento de requisitos </a:t>
            </a:r>
            <a:r>
              <a:rPr lang="en-US" sz="110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en formato </a:t>
            </a:r>
            <a:r>
              <a:rPr lang="en-US" sz="110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estándar.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66" name="Google Shape;3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9056" y="4434841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0"/>
          <p:cNvSpPr/>
          <p:nvPr/>
        </p:nvSpPr>
        <p:spPr>
          <a:xfrm>
            <a:off x="8631925" y="4301700"/>
            <a:ext cx="2743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Diagramas de arquitectura y base de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ntmatch_ppt/icons/check_seafoam.png" id="368" name="Google Shape;3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9056" y="50200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"/>
          <p:cNvSpPr/>
          <p:nvPr/>
        </p:nvSpPr>
        <p:spPr>
          <a:xfrm>
            <a:off x="8631913" y="4782300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100" u="none" cap="none" strike="noStrike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itácora de decisiones.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A7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7A7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933900" y="3133602"/>
            <a:ext cx="2932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3B3E"/>
              </a:buClr>
              <a:buSzPts val="1100"/>
              <a:buFont typeface="Calibri"/>
              <a:buNone/>
            </a:pPr>
            <a:r>
              <a:rPr lang="en-US" sz="900"/>
              <a:t>Demuestra el avance real del desarrollo y la calidad del código a lo largo</a:t>
            </a:r>
            <a:r>
              <a:rPr lang="en-US" sz="1100">
                <a:solidFill>
                  <a:srgbClr val="1F3B3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/>
              <a:t>del proyecto.</a:t>
            </a:r>
            <a:endParaRPr sz="900"/>
          </a:p>
        </p:txBody>
      </p:sp>
      <p:sp>
        <p:nvSpPr>
          <p:cNvPr id="372" name="Google Shape;372;p10"/>
          <p:cNvSpPr txBox="1"/>
          <p:nvPr/>
        </p:nvSpPr>
        <p:spPr>
          <a:xfrm>
            <a:off x="4490675" y="3133602"/>
            <a:ext cx="2932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Demuestra que el sistema cumple su propósito con usuarios reales, no solo en teoría.</a:t>
            </a:r>
            <a:endParaRPr sz="900"/>
          </a:p>
        </p:txBody>
      </p:sp>
      <p:sp>
        <p:nvSpPr>
          <p:cNvPr id="373" name="Google Shape;373;p10"/>
          <p:cNvSpPr txBox="1"/>
          <p:nvPr/>
        </p:nvSpPr>
        <p:spPr>
          <a:xfrm>
            <a:off x="8323388" y="3094727"/>
            <a:ext cx="2932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Respalda que el proyecto sigue los estándares y decisiones quedan trazables. </a:t>
            </a:r>
            <a:endParaRPr sz="900"/>
          </a:p>
        </p:txBody>
      </p:sp>
      <p:pic>
        <p:nvPicPr>
          <p:cNvPr id="374" name="Google Shape;374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202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2"/>
          <p:cNvSpPr/>
          <p:nvPr/>
        </p:nvSpPr>
        <p:spPr>
          <a:xfrm>
            <a:off x="-658175" y="-731525"/>
            <a:ext cx="3600300" cy="357000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9005350" y="4081650"/>
            <a:ext cx="4037400" cy="3965100"/>
          </a:xfrm>
          <a:prstGeom prst="ellipse">
            <a:avLst/>
          </a:prstGeom>
          <a:solidFill>
            <a:srgbClr val="00A89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ntmatch_ppt/icons/handshake_white.png" id="384" name="Google Shape;3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229" y="92230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2"/>
          <p:cNvSpPr/>
          <p:nvPr/>
        </p:nvSpPr>
        <p:spPr>
          <a:xfrm>
            <a:off x="1765685" y="777250"/>
            <a:ext cx="96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proyecto viabl</a:t>
            </a: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y con impacto real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1600200" y="2620950"/>
            <a:ext cx="8686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3F2"/>
              </a:buClr>
              <a:buSzPts val="1500"/>
              <a:buFont typeface="Calibri"/>
              <a:buNone/>
            </a:pPr>
            <a:r>
              <a:rPr lang="en-US" sz="2000">
                <a:solidFill>
                  <a:srgbClr val="E7F3F2"/>
                </a:solidFill>
                <a:latin typeface="Calibri"/>
                <a:ea typeface="Calibri"/>
                <a:cs typeface="Calibri"/>
                <a:sym typeface="Calibri"/>
              </a:rPr>
              <a:t>DentMatch integra nuestras competencias del perfil de egreso y aspiraciones, lo que nos permite aplicar desarrollo, arquitectura, análisis de datos e Inteligencia Artificial. El proyecto no solo representa el cierre de nuestra formación profesional, sino una solución viable, trazable y con un valor social concreto.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2"/>
          <p:cNvCxnSpPr/>
          <p:nvPr/>
        </p:nvCxnSpPr>
        <p:spPr>
          <a:xfrm flipH="1" rot="10800000">
            <a:off x="1765685" y="4205845"/>
            <a:ext cx="8034300" cy="3120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88" name="Google Shape;38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4450" y="0"/>
            <a:ext cx="2227550" cy="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2026-08-28T00:22:18Z</dcterms:created>
  <dc:creator>PptxGenJS</dc:creator>
</cp:coreProperties>
</file>